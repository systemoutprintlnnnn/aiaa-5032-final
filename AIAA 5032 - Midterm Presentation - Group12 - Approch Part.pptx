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61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gwucy3RAz1NtwOTqnpDREi6Kku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8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customschemas.google.com/relationships/presentationmetadata" Target="metadata"/><Relationship Id="rId15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C4CC9900-09F7-6D0C-A762-0266E6BF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>
            <a:extLst>
              <a:ext uri="{FF2B5EF4-FFF2-40B4-BE49-F238E27FC236}">
                <a16:creationId xmlns:a16="http://schemas.microsoft.com/office/drawing/2014/main" id="{1E3732A0-4E4D-1A08-1344-B92261515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>
            <a:extLst>
              <a:ext uri="{FF2B5EF4-FFF2-40B4-BE49-F238E27FC236}">
                <a16:creationId xmlns:a16="http://schemas.microsoft.com/office/drawing/2014/main" id="{0FCD522A-A879-6274-E76C-874965990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62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altLang="zh-CN" dirty="0"/>
              <a:t>Our Approach</a:t>
            </a:r>
            <a:endParaRPr dirty="0"/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Domain-Specific Knowledge Graph Construction for MOFs</a:t>
            </a:r>
          </a:p>
          <a:p>
            <a:pPr marL="114300" indent="0">
              <a:buNone/>
            </a:pPr>
            <a:endParaRPr lang="en-US" altLang="zh-CN" dirty="0">
              <a:solidFill>
                <a:srgbClr val="0070C0"/>
              </a:solidFill>
            </a:endParaRPr>
          </a:p>
          <a:p>
            <a:pPr marL="114300" indent="0">
              <a:buNone/>
            </a:pPr>
            <a:r>
              <a:rPr lang="en-US" altLang="zh-CN" sz="1400" b="1" dirty="0">
                <a:solidFill>
                  <a:schemeClr val="tx1"/>
                </a:solidFill>
              </a:rPr>
              <a:t>Multi-Source Data Integration: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</a:rPr>
              <a:t>Structured Data: Integrating crystallographic databases (e.g., CSD).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</a:rPr>
              <a:t>Semi-Structured Data: Extracting properties from tables and figures in academic PDFs.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</a:rPr>
              <a:t>Unstructured Text: Using NLP to extract entities and relations from literature.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endParaRPr lang="en-US" altLang="zh-CN" sz="1400" dirty="0">
              <a:solidFill>
                <a:schemeClr val="tx1"/>
              </a:solidFill>
            </a:endParaRPr>
          </a:p>
          <a:p>
            <a:pPr marL="114300" indent="0">
              <a:buSzPct val="70000"/>
              <a:buNone/>
            </a:pPr>
            <a:r>
              <a:rPr lang="en-US" altLang="zh-CN" sz="1400" b="1" dirty="0">
                <a:solidFill>
                  <a:schemeClr val="tx1"/>
                </a:solidFill>
              </a:rPr>
              <a:t>Expected Value: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</a:rPr>
              <a:t>Provide a reliable, fact-based foundation to solve the knowledge gaps of general LLMs in chemistry. </a:t>
            </a:r>
          </a:p>
        </p:txBody>
      </p:sp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70266" y="945714"/>
            <a:ext cx="8460300" cy="72000"/>
          </a:xfrm>
          <a:prstGeom prst="parallelogram">
            <a:avLst>
              <a:gd name="adj" fmla="val 83442"/>
            </a:avLst>
          </a:prstGeom>
          <a:gradFill>
            <a:gsLst>
              <a:gs pos="0">
                <a:srgbClr val="FFFFFF"/>
              </a:gs>
              <a:gs pos="2280">
                <a:srgbClr val="FFFFFF"/>
              </a:gs>
              <a:gs pos="37000">
                <a:srgbClr val="DDCEB9"/>
              </a:gs>
              <a:gs pos="65000">
                <a:srgbClr val="825D1C"/>
              </a:gs>
              <a:gs pos="100000">
                <a:srgbClr val="114CB7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7312" marR="0" lvl="0" indent="-6032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5"/>
              <a:buFont typeface="Noto Sans Symbols"/>
              <a:buNone/>
            </a:pPr>
            <a:endParaRPr sz="17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D8B15A50-C44B-C117-D1D1-31E6EE5E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>
            <a:extLst>
              <a:ext uri="{FF2B5EF4-FFF2-40B4-BE49-F238E27FC236}">
                <a16:creationId xmlns:a16="http://schemas.microsoft.com/office/drawing/2014/main" id="{1A1808E9-F5CB-39D8-E276-6432C2AC6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altLang="zh-CN" dirty="0"/>
              <a:t>Our Approach</a:t>
            </a:r>
            <a:endParaRPr dirty="0"/>
          </a:p>
        </p:txBody>
      </p:sp>
      <p:sp>
        <p:nvSpPr>
          <p:cNvPr id="86" name="Google Shape;86;p4">
            <a:extLst>
              <a:ext uri="{FF2B5EF4-FFF2-40B4-BE49-F238E27FC236}">
                <a16:creationId xmlns:a16="http://schemas.microsoft.com/office/drawing/2014/main" id="{86720A68-E948-DFBD-AA4E-43D8D978D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Dual-Track Hybrid Retrieval Architecture</a:t>
            </a:r>
          </a:p>
          <a:p>
            <a:pPr marL="114300" indent="0">
              <a:buNone/>
            </a:pPr>
            <a:endParaRPr lang="en-US" altLang="zh-CN" dirty="0">
              <a:solidFill>
                <a:srgbClr val="0070C0"/>
              </a:solidFill>
            </a:endParaRPr>
          </a:p>
          <a:p>
            <a:pPr marL="114300" indent="0">
              <a:buNone/>
            </a:pPr>
            <a:r>
              <a:rPr lang="en-US" altLang="zh-CN" sz="1400" b="1" dirty="0">
                <a:solidFill>
                  <a:schemeClr val="tx1"/>
                </a:solidFill>
              </a:rPr>
              <a:t>Core Design: </a:t>
            </a:r>
            <a:r>
              <a:rPr lang="en-US" altLang="zh-CN" sz="1400" dirty="0">
                <a:solidFill>
                  <a:schemeClr val="tx1"/>
                </a:solidFill>
              </a:rPr>
              <a:t>Combining exact graph querying with semantic vector search.</a:t>
            </a:r>
          </a:p>
          <a:p>
            <a:pPr marL="114300" indent="0">
              <a:buNone/>
            </a:pPr>
            <a:endParaRPr lang="en-US" altLang="zh-CN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altLang="zh-CN" sz="1400" b="1" dirty="0">
                <a:solidFill>
                  <a:schemeClr val="tx1"/>
                </a:solidFill>
              </a:rPr>
              <a:t>Track 1: Graph Query (For Hard Facts)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</a:rPr>
              <a:t>Method: Text-to-Cypher translation.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</a:rPr>
              <a:t>Goal: To directly extract exact numbers (e.g., surface area) with 0% hallucination.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endParaRPr lang="en-US" altLang="zh-CN" sz="1400" dirty="0">
              <a:solidFill>
                <a:schemeClr val="tx1"/>
              </a:solidFill>
            </a:endParaRPr>
          </a:p>
          <a:p>
            <a:pPr marL="114300" indent="0">
              <a:buSzPct val="70000"/>
              <a:buNone/>
            </a:pPr>
            <a:r>
              <a:rPr lang="en-US" altLang="zh-CN" sz="1400" b="1" dirty="0">
                <a:solidFill>
                  <a:schemeClr val="tx1"/>
                </a:solidFill>
              </a:rPr>
              <a:t>Track 2: Vector Search (For Soft Knowledge)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</a:rPr>
              <a:t>Method: Standard embedding retrieval.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</a:rPr>
              <a:t>Goal: To find descriptive contexts and synthesis mechanisms.</a:t>
            </a:r>
          </a:p>
          <a:p>
            <a:pPr>
              <a:buSzPct val="70000"/>
              <a:buFont typeface="Wingdings" panose="05000000000000000000" pitchFamily="2" charset="2"/>
              <a:buChar char="p"/>
            </a:pPr>
            <a:endParaRPr lang="en-US" altLang="zh-CN" sz="1400" dirty="0">
              <a:solidFill>
                <a:schemeClr val="tx1"/>
              </a:solidFill>
            </a:endParaRPr>
          </a:p>
          <a:p>
            <a:pPr marL="114300" indent="0">
              <a:buSzPct val="70000"/>
              <a:buNone/>
            </a:pPr>
            <a:r>
              <a:rPr lang="en-US" altLang="zh-CN" sz="1400" b="1" dirty="0">
                <a:solidFill>
                  <a:schemeClr val="tx1"/>
                </a:solidFill>
              </a:rPr>
              <a:t>Graph-Text Fusion: </a:t>
            </a:r>
            <a:r>
              <a:rPr lang="en-US" altLang="zh-CN" sz="1400" dirty="0">
                <a:solidFill>
                  <a:schemeClr val="tx1"/>
                </a:solidFill>
              </a:rPr>
              <a:t>Fusing exact data and text context to generate accurate and comprehensive answers.</a:t>
            </a:r>
          </a:p>
        </p:txBody>
      </p:sp>
      <p:sp>
        <p:nvSpPr>
          <p:cNvPr id="87" name="Google Shape;87;p4">
            <a:extLst>
              <a:ext uri="{FF2B5EF4-FFF2-40B4-BE49-F238E27FC236}">
                <a16:creationId xmlns:a16="http://schemas.microsoft.com/office/drawing/2014/main" id="{8BBF03EC-92F1-475D-B3FE-8AFD581FF0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88" name="Google Shape;88;p4">
            <a:extLst>
              <a:ext uri="{FF2B5EF4-FFF2-40B4-BE49-F238E27FC236}">
                <a16:creationId xmlns:a16="http://schemas.microsoft.com/office/drawing/2014/main" id="{3D09C946-EE8E-7FC5-5FB2-664740B4AC72}"/>
              </a:ext>
            </a:extLst>
          </p:cNvPr>
          <p:cNvSpPr/>
          <p:nvPr/>
        </p:nvSpPr>
        <p:spPr>
          <a:xfrm>
            <a:off x="370266" y="945714"/>
            <a:ext cx="8460300" cy="72000"/>
          </a:xfrm>
          <a:prstGeom prst="parallelogram">
            <a:avLst>
              <a:gd name="adj" fmla="val 83442"/>
            </a:avLst>
          </a:prstGeom>
          <a:gradFill>
            <a:gsLst>
              <a:gs pos="0">
                <a:srgbClr val="FFFFFF"/>
              </a:gs>
              <a:gs pos="2280">
                <a:srgbClr val="FFFFFF"/>
              </a:gs>
              <a:gs pos="37000">
                <a:srgbClr val="DDCEB9"/>
              </a:gs>
              <a:gs pos="65000">
                <a:srgbClr val="825D1C"/>
              </a:gs>
              <a:gs pos="100000">
                <a:srgbClr val="114CB7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7312" marR="0" lvl="0" indent="-6032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5"/>
              <a:buFont typeface="Noto Sans Symbols"/>
              <a:buNone/>
            </a:pPr>
            <a:endParaRPr sz="17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04998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168</Words>
  <Application>Microsoft Office PowerPoint</Application>
  <PresentationFormat>全屏显示(16:9)</PresentationFormat>
  <Paragraphs>26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Noto Sans Symbols</vt:lpstr>
      <vt:lpstr>Arial</vt:lpstr>
      <vt:lpstr>Calibri</vt:lpstr>
      <vt:lpstr>Wingdings</vt:lpstr>
      <vt:lpstr>Simple Light</vt:lpstr>
      <vt:lpstr>Our Approach</vt:lpstr>
      <vt:lpstr>Our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Bin Ma</cp:lastModifiedBy>
  <cp:revision>2</cp:revision>
  <dcterms:modified xsi:type="dcterms:W3CDTF">2026-03-22T14:19:42Z</dcterms:modified>
</cp:coreProperties>
</file>